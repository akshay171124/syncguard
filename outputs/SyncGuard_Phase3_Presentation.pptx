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SyncGuard</a:t>
            </a:r>
          </a:p>
          <a:p>
            <a:pPr algn="ctr">
              <a:spcBef>
                <a:spcPts val="1600"/>
              </a:spcBef>
              <a:defRPr sz="2400">
                <a:solidFill>
                  <a:srgbClr val="BBDEFB"/>
                </a:solidFill>
              </a:defRPr>
            </a:pPr>
            <a:r>
              <a:t>Contrastive Audio-Visual Deepfake Detection</a:t>
            </a:r>
            <a:br/>
            <a:r>
              <a:t>via Temporal Phoneme-Face Coherence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931920"/>
            <a:ext cx="4876495" cy="2743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BBDD"/>
                </a:solidFill>
              </a:defRPr>
            </a:pPr>
            <a:r>
              <a:t>CS 5330 — Computer Vision  |  Northeastern University, Khoury College</a:t>
            </a:r>
          </a:p>
          <a:p>
            <a:pPr algn="ctr">
              <a:spcBef>
                <a:spcPts val="1200"/>
              </a:spcBef>
              <a:defRPr sz="1600">
                <a:solidFill>
                  <a:srgbClr val="CCDDEE"/>
                </a:solidFill>
              </a:defRPr>
            </a:pPr>
            <a:r>
              <a:t>Akshay Prajapati  |  Ritik  |  Atharva</a:t>
            </a:r>
          </a:p>
          <a:p>
            <a:pPr algn="ctr">
              <a:spcBef>
                <a:spcPts val="1000"/>
              </a:spcBef>
              <a:defRPr sz="1300">
                <a:solidFill>
                  <a:srgbClr val="7799BB"/>
                </a:solidFill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Why current deepfake detection falls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A5276"/>
                </a:solidFill>
              </a:defRPr>
            </a:pPr>
            <a:r>
              <a:t>Deepfakes are evolving faster than detectors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333333"/>
                </a:solidFill>
              </a:defRPr>
            </a:pPr>
            <a:r>
              <a:t>Current approaches rely on visual artifacts: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  Blending boundaries, texture inconsistencies, flickering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  These artifacts are generator-specific and disappear as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  synthesis improves — detectors trained on one method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  fail on the next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E74C3C"/>
                </a:solidFill>
              </a:defRPr>
            </a:pPr>
            <a:r>
              <a:t>What's missing: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  Most detectors ignore audio entirely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  Even AV methods check global consistency, not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  frame-level temporal synchronization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7AE60"/>
                </a:solidFill>
              </a:defRPr>
            </a:pPr>
            <a:r>
              <a:t>Our approach: exploit the physics of speech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  Real speech → tight temporal coupling between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  lip motion and audio phonemes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  Fakes optimize appearance, not fine-grained sync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  This is a generator-agnostic signal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219456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26187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74C3C"/>
                </a:solidFill>
              </a:defRPr>
            </a:pPr>
            <a:r>
              <a:t>Generator-Specific Detection (Fragile)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72768"/>
            <a:ext cx="49377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  Trained on FaceSwap → fails on Wav2Lip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  Trained on Wav2Lip → fails on FaceSwap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  Visual artifacts change with every new generator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  Cross-dataset AUC often drops 20-30%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  Detectors are playing catch-up with generators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611880"/>
            <a:ext cx="5303520" cy="27432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68503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AE60"/>
                </a:solidFill>
              </a:defRPr>
            </a:pPr>
            <a:r>
              <a:t>SyncGuard: Generator-Agnostic (Robust)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995928"/>
            <a:ext cx="493775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  Key insight: speech production is governed by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  biomechanics — not generator architecture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  Lip rounding for /o/ always co-occurs with the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  corresponding acoustic formant in real speech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  No generator perfectly replicates this coupling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  at the frame level (20-50ms resolution)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  Goal: AUC ≥ 0.88 in-domain, ≥ 0.72 zero-shot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How SyncGuard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Two-stream contrastive learning for AV synchrony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3/7</a:t>
            </a:r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Technical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Model components, training strategy, and design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834640" cy="27432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6187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6C1"/>
                </a:solidFill>
              </a:defRPr>
            </a:pPr>
            <a:r>
              <a:t>Visual 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AV-HuBERT (pretrained lip-reading)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Trained on 1,759 hrs of speech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3D Conv (5×7×7) + ResNet-18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Projection: Linear→ReLU→Linear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Output: v_t ∈ R^256, L2-normalized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Why: lip-reading pretraining encodes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exactly the visual phonetics we need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188720"/>
            <a:ext cx="2834640" cy="27432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126187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98DB"/>
                </a:solidFill>
              </a:defRPr>
            </a:pPr>
            <a:r>
              <a:t>Audio 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572768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Wav2Vec 2.0 (facebook, frozen)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Layer 9 hidden states extracted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(best phonetic encoding per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Pasad et al. 2021)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Projection: Linear→ReLU→Linear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Output: a_t ∈ R^256, L2-normalized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Why frozen: 94M params saved from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gradient computation → fast training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2834640" cy="27432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6187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E44AD"/>
                </a:solidFill>
              </a:defRPr>
            </a:pPr>
            <a:r>
              <a:t>Sync Score + Classifier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72768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Frame-level cosine similarity: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s(t) = cos(v_t, a_t) ∈ [-1, 1]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Real: s(t) ≈ 0.7-0.9 (synchronized)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Fake: s(t) ≈ 0.1-0.4 (desynchronized)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Bi-LSTM (2-layer, hidden=128)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Captures temporal patterns in s(t)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Mean+Max pool → binary decision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188720"/>
            <a:ext cx="2743200" cy="27432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26187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AE60"/>
                </a:solidFill>
              </a:defRPr>
            </a:pPr>
            <a:r>
              <a:t>Training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1572768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Phase 1: Contrastive Pretrain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Real data only, InfoNCE loss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MoCo queue (4096 negatives)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Learn AV alignment, 20 epochs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Phase 2: Fine-tune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FakeAVCeleb (real + fake)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L_nce + 0.5·L_temp + L_cls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Hard neg mining 0%→20%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114800"/>
            <a:ext cx="3840480" cy="237744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4187952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39C12"/>
                </a:solidFill>
              </a:defRPr>
            </a:pPr>
            <a:r>
              <a:t>Loss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98848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InfoNCE: frame-level contrastive, v_t vs MoCo negatives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Learnable temperature τ (init=0.07, clamped [0.01, 0.5])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Temporal Consistency (real clips only):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L_temp = Σ_t ||(Δv_t) - (Δa_t)||²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Penalizes divergent rate-of-change in embeddings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BCE: standard classification loss on logits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114800"/>
            <a:ext cx="3840480" cy="237744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187952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E44AD"/>
                </a:solidFill>
              </a:defRPr>
            </a:pPr>
            <a:r>
              <a:t>Ablation Dimensions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498848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Visual encoder:  AV-HuBERT  |  ResNet-18  |  SyncNet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(Does lip-reading pretraining matter?)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Wav2Vec layer:  3  |  5  |  7  |  9  |  11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(Which layer best encodes phonetics?)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Classifier:  Bi-LSTM  |  1D-CNN  |  Statistical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(Does temporal modeling matter?)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4114800"/>
            <a:ext cx="3749039" cy="237744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418795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5276"/>
                </a:solidFill>
              </a:defRPr>
            </a:pPr>
            <a:r>
              <a:t>Tools &amp; Infrastructure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498848"/>
            <a:ext cx="338327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PyTorch, HuggingFace, fairseq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OpenCV, RetinaFace, MediaPipe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Silero-VAD, torchaudio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Northeastern HPC Explorer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NVIDIA H200 (140GB) GPUs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SLURM scheduler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YAML config-driven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Datasets, preprocessing pipeline, and evaluation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194560" cy="6400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FakeAVCeleb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828800"/>
            <a:ext cx="2194560" cy="1554480"/>
          </a:xfrm>
          <a:prstGeom prst="roundRect">
            <a:avLst/>
          </a:prstGeom>
          <a:solidFill>
            <a:srgbClr val="F5F8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19,500 clips</a:t>
            </a:r>
          </a:p>
          <a:p>
            <a:pPr algn="ctr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4 manipulation types</a:t>
            </a:r>
          </a:p>
          <a:p>
            <a:pPr algn="ctr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Speaker-disjoint splits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2918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86C1"/>
                </a:solidFill>
              </a:defRPr>
            </a:pPr>
            <a:r>
              <a:t>Train / Val /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188720"/>
            <a:ext cx="219456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VoxCeleb2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828800"/>
            <a:ext cx="2194560" cy="1554480"/>
          </a:xfrm>
          <a:prstGeom prst="roundRect">
            <a:avLst/>
          </a:prstGeom>
          <a:solidFill>
            <a:srgbClr val="F5F8FB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874519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~500 hrs (subset)</a:t>
            </a:r>
          </a:p>
          <a:p>
            <a:pPr algn="ctr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Real speech only</a:t>
            </a:r>
          </a:p>
          <a:p>
            <a:pPr algn="ctr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Diverse speakers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2918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</a:defRPr>
            </a:pPr>
            <a:r>
              <a:t>Phase 1 Pretrain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188720"/>
            <a:ext cx="219456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CelebDF-v2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828800"/>
            <a:ext cx="2194560" cy="1554480"/>
          </a:xfrm>
          <a:prstGeom prst="roundRect">
            <a:avLst/>
          </a:prstGeom>
          <a:solidFill>
            <a:srgbClr val="F5F8FB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1874519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6,229 clips</a:t>
            </a:r>
          </a:p>
          <a:p>
            <a:pPr algn="ctr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Different generator</a:t>
            </a:r>
          </a:p>
          <a:p>
            <a:pPr algn="ctr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No training exposure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2918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39C12"/>
                </a:solidFill>
              </a:defRPr>
            </a:pPr>
            <a:r>
              <a:t>Generalization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188720"/>
            <a:ext cx="2194560" cy="6400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DFDC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828800"/>
            <a:ext cx="2194560" cy="1554480"/>
          </a:xfrm>
          <a:prstGeom prst="roundRect">
            <a:avLst/>
          </a:prstGeom>
          <a:solidFill>
            <a:srgbClr val="F5F8FB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1874519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~5K test clips</a:t>
            </a:r>
          </a:p>
          <a:p>
            <a:pPr algn="ctr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Facebook challenge</a:t>
            </a:r>
          </a:p>
          <a:p>
            <a:pPr algn="ctr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Hardest benchmark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2918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8E44AD"/>
                </a:solidFill>
              </a:defRPr>
            </a:pPr>
            <a:r>
              <a:t>Generalization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1188720"/>
            <a:ext cx="219456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Wav2Lip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1828800"/>
            <a:ext cx="2194560" cy="1554480"/>
          </a:xfrm>
          <a:prstGeom prst="roundRect">
            <a:avLst/>
          </a:prstGeom>
          <a:solidFill>
            <a:srgbClr val="F5F8FB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1874519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~500 clips</a:t>
            </a:r>
          </a:p>
          <a:p>
            <a:pPr algn="ctr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Sync-optimized fakes</a:t>
            </a:r>
          </a:p>
          <a:p>
            <a:pPr algn="ctr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Self-generated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2918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</a:defRPr>
            </a:pPr>
            <a:r>
              <a:t>Robustness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3840480"/>
            <a:ext cx="6035040" cy="27432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913632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AE60"/>
                </a:solidFill>
              </a:defRPr>
            </a:pPr>
            <a:r>
              <a:t>Preprocessing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224528"/>
            <a:ext cx="566927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1. Video → RetinaFace face detection (confidence &gt; 0.8)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2. MediaPipe FaceMesh → 468 landmarks → mouth ROI crop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3. Resize to 96×96 grayscale, normalize [0, 1]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4. Audio → FFmpeg extract → resample to 16kHz mono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5. Silero-VAD → speech activity detection mask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6. Temporal alignment: 25fps visual ↔ 49Hz Wav2Vec rate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Output per clip: mouth_crops.npy  |  audio.wav  |  speech_mask.npy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3840480"/>
            <a:ext cx="5394960" cy="27432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391363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6C1"/>
                </a:solidFill>
              </a:defRPr>
            </a:pPr>
            <a:r>
              <a:t>FakeAVCeleb — 4 Manipulation Categories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224528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RV-RA  Real Video + Real Audio      (genuine)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FV-RA  Fake Video + Real Audio      (face swap)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RV-FA  Real Video + Fake Audio      (voice clone)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FV-FA  Fake Video + Fake Audio      (full deepfake)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Evaluation strategy: per-category AUC breakdown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Hypothesis: FV-FA easiest (both streams off),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RV-FA hardest (only audio is fake — subtle desync)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Implementation progress and early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6/7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A5276"/>
                </a:solidFill>
              </a:defRPr>
            </a:pPr>
            <a:r>
              <a:t>Implemented &amp; Tested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Preprocessing pipeline (RetinaFace + MediaPipe + VAD)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Visual encoder — AV-HuBERT + 2 ablation variants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195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03704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Audio encoder — Wav2Vec 2.0, frozen backbone, layer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03704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0545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Temporal classifier — Bi-LSTM + 2 ablation variants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505456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0720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Full model integration — 107M params, 13M trainable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80720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Loss functions — InfoNCE + MoCo, temporal consistency, BCE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108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107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Training dataset — speaker-disjoint splits, hard neg mining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41071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12464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Phase 1 pretraining loop — cosine LR, checkpointing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712464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01421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Phase 2 fine-tuning loop — combined loss, early stopping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014216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1596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CLI scripts — ready to launch on HPC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3159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1097280"/>
            <a:ext cx="5760720" cy="210312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117043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6C1"/>
                </a:solidFill>
              </a:defRPr>
            </a:pPr>
            <a:r>
              <a:t>Shape &amp; Gradient 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481328"/>
            <a:ext cx="5394959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End-to-end: (B,T,1,96,96) → (B,T,256) → (B,T) → (B,1) ✓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L2 normalization on both embedding streams ✓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Gradient flow through all trainable projection heads ✓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Frozen Wav2Vec backbone: 94M params, zero gradients ✓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Variable-length batches with padding + boolean masks 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3383280"/>
            <a:ext cx="5760720" cy="164592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345643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AE60"/>
                </a:solidFill>
              </a:defRPr>
            </a:pPr>
            <a:r>
              <a:t>Training Loop Tests (CPU, synthetic data)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767328"/>
            <a:ext cx="53949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Pretraining: InfoNCE loss 5.02 → 4.87 (decreasing ✓)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Sync-score: -0.03 → 0.18 (learning alignment ✓)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Fine-tuning: all 3 loss components compute correctly ✓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Checkpoint save/load with full state (model + optimizer + scheduler) 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5212080"/>
            <a:ext cx="5760720" cy="13716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528523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74C3C"/>
                </a:solidFill>
              </a:defRPr>
            </a:pPr>
            <a:r>
              <a:t>Critical Bug Caught Early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596128"/>
            <a:ext cx="53949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Wav2Vec 2.0 produces NaN on zero-padded waveforms in train mode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Cause: group normalization computes stats over zero regions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Fix: force frozen backbone to eval() during forward pass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Caught via systematic CPU testing — would have silently failed on HPC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Road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From implementation to results — April 13 deadline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7/7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8288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This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1887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333333"/>
                </a:solidFill>
              </a:defRPr>
            </a:pPr>
            <a:r>
              <a:t>Data + Eval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188720"/>
            <a:ext cx="6858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Transfer datasets to HPC, preprocess FakeAVCeleb, build evaluation framework (AUC, EER, pAUC)</a:t>
            </a:r>
          </a:p>
        </p:txBody>
      </p:sp>
      <p:sp>
        <p:nvSpPr>
          <p:cNvPr id="9" name="Rectangle 8"/>
          <p:cNvSpPr/>
          <p:nvPr/>
        </p:nvSpPr>
        <p:spPr>
          <a:xfrm>
            <a:off x="1353312" y="1645920"/>
            <a:ext cx="36576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18288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Mar 16–21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1031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333333"/>
                </a:solidFill>
              </a:defRPr>
            </a:pPr>
            <a:r>
              <a:t>Contrastive Pretraining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103120"/>
            <a:ext cx="6858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Phase 1: train encoders on real speech data, 20 epochs on H200 GPU. Target: avg sync-score &gt; 0.5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3312" y="2560320"/>
            <a:ext cx="36576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017520"/>
            <a:ext cx="182880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Mar 22–28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0175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333333"/>
                </a:solidFill>
              </a:defRPr>
            </a:pPr>
            <a:r>
              <a:t>Fine-tuning +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017520"/>
            <a:ext cx="6858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Phase 2: fine-tune on FakeAVCeleb, evaluate on CelebDF-v2 &amp; DFDC. Target: AUC ≥ 0.88 / ≥ 0.72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53312" y="3474720"/>
            <a:ext cx="36576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1828800" cy="4572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Mar 29–Apr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9319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333333"/>
                </a:solidFill>
              </a:defRPr>
            </a:pPr>
            <a:r>
              <a:t>Ablation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931920"/>
            <a:ext cx="6858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8 experiments: visual encoder (×3), Wav2Vec layer (×5), classifier (×3), hard negatives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53312" y="4389120"/>
            <a:ext cx="36576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182880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Apr 6–13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8463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 b="1">
                <a:solidFill>
                  <a:srgbClr val="333333"/>
                </a:solidFill>
              </a:defRPr>
            </a:pPr>
            <a:r>
              <a:t>Final Deliverables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846320"/>
            <a:ext cx="6858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Paper, poster, video demo, sync-score visualizations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5943600"/>
            <a:ext cx="5029200" cy="73152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601675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5276"/>
                </a:solidFill>
              </a:defRPr>
            </a:pPr>
            <a:r>
              <a:t>Expected Outcomes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2764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</a:defRPr>
            </a:pPr>
            <a:r>
              <a:t>  FakeAVCeleb AUC ≥ 0.88  |  CelebDF ≥ 0.79  |  DFDC ≥ 0.72  |  Wav2Lip: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85216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5276"/>
                </a:solidFill>
              </a:defRPr>
            </a:pPr>
            <a:r>
              <a:t>Thank You — Questions?</a:t>
            </a:r>
          </a:p>
          <a:p>
            <a:pPr algn="ctr">
              <a:spcBef>
                <a:spcPts val="400"/>
              </a:spcBef>
              <a:defRPr sz="1100">
                <a:solidFill>
                  <a:srgbClr val="666666"/>
                </a:solidFill>
              </a:defRPr>
            </a:pPr>
            <a:r>
              <a:t>github.com/Akshay171124/SyncGuard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