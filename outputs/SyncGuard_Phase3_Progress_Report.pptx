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SyncGuard</a:t>
            </a:r>
          </a:p>
          <a:p>
            <a:pPr algn="ctr">
              <a:spcBef>
                <a:spcPts val="1200"/>
              </a:spcBef>
              <a:defRPr sz="2400">
                <a:solidFill>
                  <a:srgbClr val="BBDEFB"/>
                </a:solidFill>
              </a:defRPr>
            </a:pPr>
            <a:r>
              <a:t>Contrastive Audio-Visual Deepfake Detection</a:t>
            </a:r>
            <a:br/>
            <a:r>
              <a:t>via Temporal Phoneme-Face Coherence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4876495" cy="274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Phase 3 — Implementation Progress Report</a:t>
            </a:r>
          </a:p>
          <a:p>
            <a:pPr algn="ctr">
              <a:spcBef>
                <a:spcPts val="1000"/>
              </a:spcBef>
              <a:defRPr sz="1500">
                <a:solidFill>
                  <a:srgbClr val="99BBDD"/>
                </a:solidFill>
              </a:defRPr>
            </a:pPr>
            <a:r>
              <a:t>CS 5330 — Computer Vision  |  Northeastern University, Khoury College</a:t>
            </a:r>
          </a:p>
          <a:p>
            <a:pPr algn="ctr">
              <a:spcBef>
                <a:spcPts val="600"/>
              </a:spcBef>
              <a:defRPr sz="1500">
                <a:solidFill>
                  <a:srgbClr val="99BBDD"/>
                </a:solidFill>
              </a:defRPr>
            </a:pPr>
            <a:r>
              <a:t>Akshay Prajapati  |  Ritik  |  Atharva</a:t>
            </a:r>
          </a:p>
          <a:p>
            <a:pPr algn="ctr">
              <a:spcBef>
                <a:spcPts val="800"/>
              </a:spcBef>
              <a:defRPr sz="1300">
                <a:solidFill>
                  <a:srgbClr val="7799BB"/>
                </a:solidFill>
              </a:defRPr>
            </a:pPr>
            <a:r>
              <a:t>March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276"/>
                </a:solidFill>
              </a:defRPr>
            </a:pPr>
            <a:r>
              <a:t>Key Insight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Real speech has tight temporal coupling between lip movements and audio phonemes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Deepfake generators optimize appearance, not fine-grained AV synchrony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This coupling is a generator-agnostic signal — based on physics of speech production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926080"/>
            <a:ext cx="1161288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Architecture Details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834640" cy="25603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6187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C1"/>
                </a:solidFill>
              </a:defRPr>
            </a:pPr>
            <a:r>
              <a:t>Visual 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AV-HuBERT (lip-reading pretrained)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3D Conv frontend + ResNet-18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Projection → L2 normalize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Input: (B,T,1,96,96) mouth crops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Output: (B,T,256) embeddings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Ablations: ResNet-18, SyncNet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88720"/>
            <a:ext cx="2834640" cy="25603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26187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98DB"/>
                </a:solidFill>
              </a:defRPr>
            </a:pPr>
            <a:r>
              <a:t>Audio 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72768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Wav2Vec 2.0 (frozen backbone)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Layer 9 hidden states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Projection → L2 normalize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Input: (B, samples) 16kHz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Output: (B,T,256) embeddings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Ablation: layers 3,5,7,9,11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834640" cy="25603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6187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E44AD"/>
                </a:solidFill>
              </a:defRPr>
            </a:pPr>
            <a:r>
              <a:t>Classifier +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72768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s(t) = cos(v_t, a_t) per frame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Bi-LSTM: 2-layer, hidden=128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InfoNCE + MoCo queue (4096)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Temporal consistency (real only)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BCE classification loss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L = L_nce + 0.5·L_temp + L_cls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188720"/>
            <a:ext cx="2743200" cy="25603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26187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Two-Phase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572768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Phase 1: Pretraining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InfoNCE only, 20 epochs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Cosine LR, warmup=2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Phase 2: Fine-tuning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Combined loss, 30 epochs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Hard neg: 0%→20% / 10 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931920"/>
            <a:ext cx="3840480" cy="25603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00507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39C12"/>
                </a:solidFill>
              </a:defRPr>
            </a:pPr>
            <a:r>
              <a:t>Deep Learning &amp; 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15968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PyTorch (models, training, GPU)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HuggingFace Transformers (Wav2Vec 2.0)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fairseq (AV-HuBERT weights)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OpenCV, RetinaFace, MediaPipe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Silero-VAD, torchaudio, librosa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31920"/>
            <a:ext cx="3840480" cy="25603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00507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74C3C"/>
                </a:solidFill>
              </a:defRPr>
            </a:pPr>
            <a:r>
              <a:t>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315968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Northeastern HPC Explorer Cluster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H200 (140GB) / A100 GPUs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SLURM job scheduler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Python 3.11, Conda environments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Git/GitHub version 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931920"/>
            <a:ext cx="3749039" cy="25603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400507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276"/>
                </a:solidFill>
              </a:defRPr>
            </a:pPr>
            <a:r>
              <a:t>Key Design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4315968"/>
            <a:ext cx="33832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Wav2Vec layer 9 (Pasad et al. 2021)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AV-HuBERT: lip-reading expertise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MoCo: scalable negatives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Speaker-disjoint splits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YAML-driven config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Implementation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402336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188720"/>
            <a:ext cx="182880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36192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Preprocessing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53619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Complete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36192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RetinaFace + MediaPipe + Silero-VAD + audio extraction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83664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Visual Encoder (AV-HuBERT)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88366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Complete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83664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3D Conv + ResNet-18 + projection head, 3 variants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31136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Audio Encoder (Wav2Vec 2.0)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23113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Complete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31136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Layer 9 extraction, frozen backbone, projection head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78608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Temporal Classifier (Bi-LSTM)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578608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Complete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578608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2-layer bidirectional, masked pooling, 3 variants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26080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Full Model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926080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Complete 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926080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107M params total, 13M trainable, shape-verified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73552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Loss Functions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27355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Complete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273552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InfoNCE + MoCo, temporal consistency, BCE, combined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21024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Training Dataset + Collation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62102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Complete 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621024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Speaker-disjoint splits, hard negatives, padding masks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68496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Pretraining Loop (Phase 1)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96849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Complete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968496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Cosine LR, warmup, checkpointing, resume support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315968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Fine-tuning Loop (Phase 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4315968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Complete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315968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Combined loss, early stopping, hard neg annealing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63440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CLI Scripts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663440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Complete 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663440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scripts/train_pretrain.py, scripts/train_finetune.py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10912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Evaluation Framework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501091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39C12"/>
                </a:solidFill>
              </a:defRPr>
            </a:pPr>
            <a:r>
              <a:t>Next 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010912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AUC-ROC, EER, pAUC, per-category breakdown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58384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HPC Training Runs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535838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39C12"/>
                </a:solidFill>
              </a:defRPr>
            </a:pPr>
            <a:r>
              <a:t>Pending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358384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Awaiting data transfer to /scratch/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10 of 12 components complete  —  all code tested on CPU with synthetic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Dataset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5176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188720"/>
            <a:ext cx="210312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188720"/>
            <a:ext cx="246888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188720"/>
            <a:ext cx="228600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36192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FakeAVCeleb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53619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Train / Val / 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536192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19,500 clips (4 cat.)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53619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Downloaded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83664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VoxCeleb2 / LRS2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88366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Pretraining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883664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~500 hrs subset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88366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Evaluating fallback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31136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CelebDF-v2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23113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Zero-shot eval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231136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6,229 clips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23113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7AE60"/>
                </a:solidFill>
              </a:defRPr>
            </a:pPr>
            <a:r>
              <a:t>Downloaded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7860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DFDC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257860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Zero-shot eval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2578608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~5K test clips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257860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39C12"/>
                </a:solidFill>
              </a:defRPr>
            </a:pPr>
            <a:r>
              <a:t>Pending download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Wav2Lip generated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92608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Adversarial 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2926080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~500 clips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926080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39C12"/>
                </a:solidFill>
              </a:defRPr>
            </a:pPr>
            <a:r>
              <a:t>To generate Mar 19-21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3383280"/>
            <a:ext cx="5669280" cy="30175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456432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Preprocessing Pipeline (Implemented)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767328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1. Video frames → RetinaFace detection (conf &gt; 0.8)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2. MediaPipe FaceMesh → 468 landmarks → mouth ROI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3. Crop &amp; resize to 96×96 grayscale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4. Audio → FFmpeg extract → 16kHz mono PCM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5. Silero-VAD → speech activity mask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6. Temporal align: 25fps visual ↔ 49Hz Wav2Vec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Output per sample: mouth_crops.npy, audio.wav,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 speech_mask.npy, metadata.json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383280"/>
            <a:ext cx="5669280" cy="30175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456432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C1"/>
                </a:solidFill>
              </a:defRPr>
            </a:pPr>
            <a:r>
              <a:t>FakeAVCeleb — 4 Manipulation Categories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767328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RV-RA: Real Video + Real Audio (genuine baseline)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FV-RA: Fake Video + Real Audio (face swap only)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RV-FA: Real Video + Fake Audio (voice clone only)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FV-FA: Fake Video + Fake Audio (full deepfake)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Speaker-disjoint splits prevent identity leakage: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70% train  |  15% validation  |  15% test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Same speaker never appears in multiple splits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Early Results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All components tested on CPU with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749039" cy="246888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6187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C1"/>
                </a:solidFill>
              </a:defRPr>
            </a:pPr>
            <a:r>
              <a:t>Model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33832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Total params: 107M (13M trainable)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Shapes verified end-to-end: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(B,T,1,96,96) → (B,T,256) visual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(B, samples) → (B,T,256) audio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→ (B,T) sync → (B,1) logit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L2 normalization confirmed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Gradient flow through all heads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188720"/>
            <a:ext cx="3749039" cy="246888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6187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39C12"/>
                </a:solidFill>
              </a:defRPr>
            </a:pPr>
            <a:r>
              <a:t>Loss Function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72768"/>
            <a:ext cx="33832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InfoNCE: 5.64 (τ=0.07, 128 neg)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Temporal: 4.04 (random), 0.0 (fake)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Combined: correct weighted sum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Temperature: learnable, has grad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MoCo queue: FIFO, no-grad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840480" cy="246888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26187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Training Loop Tests (2 ep, CPU)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72768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Pretrain: loss 5.02→4.87 ↓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Sync-score: -0.03→0.18 ↑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Fine-tune: all components finite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Checkpoint save/load works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Variable-length batches handled 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40480"/>
            <a:ext cx="5669280" cy="25603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913632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74C3C"/>
                </a:solidFill>
              </a:defRPr>
            </a:pPr>
            <a:r>
              <a:t>Bug Found &amp; Fixed During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24528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Issue: Wav2Vec 2.0 produces NaN on zero-padded waveforms in train mode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Root cause: Group normalization in frozen backbone computes statistics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 over zero-padded regions, producing NaN when in training mode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Fix: Force frozen backbone to eval() mode during forward pass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Impact: Would have caused silent training failure on HPC —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 caught early through systematic CPU 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840480"/>
            <a:ext cx="5669280" cy="25603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913632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E44AD"/>
                </a:solidFill>
              </a:defRPr>
            </a:pPr>
            <a:r>
              <a:t>Ablation Variants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24528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Visual encoder: AV-HuBERT vs ResNet-18 vs SyncNet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 All 3 produce identical output shapes — swap via config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Wav2Vec layer: configurable (will test 3, 5, 7, 9, 11)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Classifier: Bi-LSTM vs 1D-CNN vs Statistical baseline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Hard negatives: 0% vs 20% (same-speaker mining)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 All ablations driven by configs/default.yaml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Timeline to final submission — April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8288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Mar 15–16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29844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9844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Transfer data to HPC, run preprocessing, evaluation framework, GPU smoke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3312" y="1737360"/>
            <a:ext cx="36576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8288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Mar 16–21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1284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Phase 1: Pretrain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1284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Contrastive pretraining on real data (20 ep, H200). Target: sync &gt; 0.5 for real clips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3312" y="2651760"/>
            <a:ext cx="36576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18288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Mar 22–28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2724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Phase 2: Fine-tune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12724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Fine-tune on FakeAVCeleb. Target: AUC ≥ 0.88 (FakeAVCeleb), ≥ 0.72 (DFDC zero-shot)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3312" y="3566160"/>
            <a:ext cx="36576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182880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Mar 29–Apr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04164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Ablations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04164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Visual encoder, Wav2Vec layer, classifier, hard negatives — 8 experiments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3312" y="4480560"/>
            <a:ext cx="36576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182880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Apr 6–13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95604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Deliverables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95604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Paper/report, poster, video demo, final evaluation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486400"/>
            <a:ext cx="5486400" cy="109728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55955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276"/>
                </a:solidFill>
              </a:defRPr>
            </a:pPr>
            <a:r>
              <a:t>Target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7044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FakeAVCeleb AUC ≥ 0.88  |  CelebDF AUC ≥ 0.79  |  DFDC AUC ≥ 0.72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48640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A5276"/>
                </a:solidFill>
              </a:defRPr>
            </a:pPr>
            <a:r>
              <a:t>Thank you — Questions?</a:t>
            </a:r>
          </a:p>
          <a:p>
            <a:pPr algn="ctr">
              <a:spcBef>
                <a:spcPts val="600"/>
              </a:spcBef>
              <a:defRPr sz="1200">
                <a:solidFill>
                  <a:srgbClr val="666666"/>
                </a:solidFill>
              </a:defRPr>
            </a:pPr>
            <a:r>
              <a:t>github.com/Akshay171124/SyncGuard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